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554480"/>
            <a:ext cx="4937760" cy="4937760"/>
          </a:xfrm>
          <a:prstGeom prst="ellipse">
            <a:avLst/>
          </a:prstGeom>
          <a:solidFill>
            <a:srgbClr val="6D2E46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480560"/>
            <a:ext cx="4206240" cy="420624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9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APPLICATION MAPPING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Classification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CE2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BERT, GPT, T5, and LLaMA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the most suitable model — and justifying the choice with real-world examples.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6D2E46">
              <a:alpha val="9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88920" y="48920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A26769">
              <a:alpha val="9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48920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48920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3E5C55">
              <a:alpha val="9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48920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489204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8C6A3F">
              <a:alpha val="9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489204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Text Classification?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assigns a category label to a piece of text — the most common and commercially important NLP task.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 Detection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email spam or not spam?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468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3337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Analysis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11880" y="37947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review positive, negative, or neutral?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337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Labeling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46520" y="37947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news category does this article belong to?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246888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6974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81160" y="3337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Routing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281160" y="379476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 should handle this support ticket?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CE2D0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A1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model for this task depends on: how much labeled data you have, the accuracy you need, latency and cost constraints, and whether you also need the model for other tasks.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— Choosing the Right Model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317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Encoder Classifier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— Choosing the Right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94760" y="38404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658368"/>
            <a:ext cx="7818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 for Text Classification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9476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CLASSIFIES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16916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classification head on top of the [CLS] token's final hidden state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94760" y="2560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25603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labeled examples to fine-tune, but only a few thousand suffice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94760" y="3429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34290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bidirectional context gives strong accuracy on well-defined categories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94760" y="4297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06440" y="42976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spam filters, review sentiment engines, content moderation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794760" y="521208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AF7F3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533095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is the long-standing industry default for dedicated classification systems — small, fast at inference, and highly accurate once fine-tuned.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317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Classifier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— Choosing the Right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94760" y="38404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658368"/>
            <a:ext cx="7818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 for Text Classification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9476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CLASSIFIES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16916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directly — e.g. "Classify sentiment: &lt;text&gt; →" — or fine-tuned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94760" y="2560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25603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work zero-shot or few-shot with little to no labeled 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94760" y="3429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34290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flexible; new categories can be added by editing the prompt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94760" y="4297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06440" y="42976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prototyping, low-resource domains, ad-hoc classification tasks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794760" y="521208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AF7F3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533095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trades some raw accuracy for flexibility — ideal when labeled training data is scarce or categories change often.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3E5C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317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Text-to-Text Classifier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— Choosing the Right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94760" y="38404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658368"/>
            <a:ext cx="7818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 for Text Classification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9476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CLASSIFIES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16916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Reframes classification as generation: input "classify: &lt;text&gt;" → output label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94760" y="2560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25603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fine-tuning, similar to BERT, on labeled input-output pairs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94760" y="3429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34290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architecture handles classification alongside other NLP tasks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94760" y="4297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06440" y="42976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pipelines needing classification + summarization + more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794760" y="521208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AF7F3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533095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suits teams that want a single unified model serving several NLP tasks rather than one dedicated classifier.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8C6A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3172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Prompted Classifier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6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— Choosing the Right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94760" y="38404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658368"/>
            <a:ext cx="7818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 for Text Classification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9476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C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CLASSIFIES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16916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(zero/few-shot) or lightweight fine-tuning (e.g. LoRA)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94760" y="2560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C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06440" y="256032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zero-shot performance; fine-tuning boosts accuracy further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94760" y="3429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C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342900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 allow full on-premise control and customization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94760" y="42976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C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06440" y="42976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classification within a broader open-source AI stack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794760" y="5212080"/>
            <a:ext cx="7955280" cy="1005840"/>
          </a:xfrm>
          <a:prstGeom prst="roundRect">
            <a:avLst>
              <a:gd name="adj" fmla="val 7273"/>
            </a:avLst>
          </a:prstGeom>
          <a:solidFill>
            <a:srgbClr val="FAF7F3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533095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fits organizations that want one general-purpose, open-source model covering classification and much more, without API dependence.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for Text Classification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28016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FAF7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91640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828800" y="1691640"/>
            <a:ext cx="256032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FAF7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01952" y="1691640"/>
            <a:ext cx="2414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192024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FAF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691640"/>
            <a:ext cx="1773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Need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13716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FAF7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69164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1691640"/>
            <a:ext cx="27432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FAF7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4112" y="1691640"/>
            <a:ext cx="25968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1280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94560"/>
            <a:ext cx="1133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28800" y="219456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1952" y="2194560"/>
            <a:ext cx="2414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+ classification head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0" y="219456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2272" y="219456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219456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2194560"/>
            <a:ext cx="1225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80960" y="219456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194560"/>
            <a:ext cx="2596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classification systems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063240"/>
            <a:ext cx="1280160" cy="868680"/>
          </a:xfrm>
          <a:prstGeom prst="rect">
            <a:avLst/>
          </a:prstGeom>
          <a:solidFill>
            <a:srgbClr val="F1E7DC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063240"/>
            <a:ext cx="1133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828800" y="3063240"/>
            <a:ext cx="2560320" cy="868680"/>
          </a:xfrm>
          <a:prstGeom prst="rect">
            <a:avLst/>
          </a:prstGeom>
          <a:solidFill>
            <a:srgbClr val="F1E7DC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01952" y="3063240"/>
            <a:ext cx="2414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or fine-tuning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89120" y="3063240"/>
            <a:ext cx="1920240" cy="868680"/>
          </a:xfrm>
          <a:prstGeom prst="rect">
            <a:avLst/>
          </a:prstGeom>
          <a:solidFill>
            <a:srgbClr val="F1E7DC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2272" y="306324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3063240"/>
            <a:ext cx="1371600" cy="868680"/>
          </a:xfrm>
          <a:prstGeom prst="rect">
            <a:avLst/>
          </a:prstGeom>
          <a:solidFill>
            <a:srgbClr val="F1E7DC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3063240"/>
            <a:ext cx="1225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680960" y="3063240"/>
            <a:ext cx="2743200" cy="868680"/>
          </a:xfrm>
          <a:prstGeom prst="rect">
            <a:avLst/>
          </a:prstGeom>
          <a:solidFill>
            <a:srgbClr val="F1E7DC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54112" y="3063240"/>
            <a:ext cx="2596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prototyping, few labels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3931920"/>
            <a:ext cx="1280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931920"/>
            <a:ext cx="1133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3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828800" y="3931920"/>
            <a:ext cx="25603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01952" y="3931920"/>
            <a:ext cx="2414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Text-to-text generation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389120" y="3931920"/>
            <a:ext cx="1920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62272" y="393192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09360" y="393192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3931920"/>
            <a:ext cx="1225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680960" y="3931920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54112" y="3931920"/>
            <a:ext cx="2596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NLP pipelines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4800600"/>
            <a:ext cx="1280160" cy="868680"/>
          </a:xfrm>
          <a:prstGeom prst="rect">
            <a:avLst/>
          </a:prstGeom>
          <a:solidFill>
            <a:srgbClr val="F1E7DC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800600"/>
            <a:ext cx="11338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8C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828800" y="4800600"/>
            <a:ext cx="2560320" cy="868680"/>
          </a:xfrm>
          <a:prstGeom prst="rect">
            <a:avLst/>
          </a:prstGeom>
          <a:solidFill>
            <a:srgbClr val="F1E7DC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01952" y="4800600"/>
            <a:ext cx="24140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or light fine-tuning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389120" y="4800600"/>
            <a:ext cx="1920240" cy="868680"/>
          </a:xfrm>
          <a:prstGeom prst="rect">
            <a:avLst/>
          </a:prstGeom>
          <a:solidFill>
            <a:srgbClr val="F1E7DC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62272" y="4800600"/>
            <a:ext cx="177393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309360" y="4800600"/>
            <a:ext cx="1371600" cy="868680"/>
          </a:xfrm>
          <a:prstGeom prst="rect">
            <a:avLst/>
          </a:prstGeom>
          <a:solidFill>
            <a:srgbClr val="F1E7DC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4800600"/>
            <a:ext cx="1225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680960" y="4800600"/>
            <a:ext cx="2743200" cy="868680"/>
          </a:xfrm>
          <a:prstGeom prst="rect">
            <a:avLst/>
          </a:prstGeom>
          <a:solidFill>
            <a:srgbClr val="F1E7DC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4112" y="4800600"/>
            <a:ext cx="25968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on-prem deployments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— Choosing the Right Model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 Mapped to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AF7F3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Spam Filter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High-volume, stable categories, need for speed and precision.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5257800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BERT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0" y="178308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AF7F3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2011680"/>
            <a:ext cx="502920" cy="5029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03320" y="2651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Feedback Triage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337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labeled data available; categories evolve quickly.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03320" y="5257800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A26769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GPT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78308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AF7F3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2011680"/>
            <a:ext cx="502920" cy="502920"/>
          </a:xfrm>
          <a:prstGeom prst="ellipse">
            <a:avLst/>
          </a:prstGeom>
          <a:solidFill>
            <a:srgbClr val="3E5C55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2651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+ Summary Pipeline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3337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bundled with summarization in one workflow.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29400" y="5257800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3E5C55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T5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26880" y="178308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AF7F3"/>
          </a:solidFill>
          <a:ln w="12700">
            <a:solidFill>
              <a:srgbClr val="E4D9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55480" y="2011680"/>
            <a:ext cx="502920" cy="502920"/>
          </a:xfrm>
          <a:prstGeom prst="ellipse">
            <a:avLst/>
          </a:prstGeom>
          <a:solidFill>
            <a:srgbClr val="8C6A3F"/>
          </a:solidFill>
          <a:ln/>
        </p:spPr>
      </p:sp>
      <p:sp>
        <p:nvSpPr>
          <p:cNvPr id="27" name="Text 25"/>
          <p:cNvSpPr/>
          <p:nvPr/>
        </p:nvSpPr>
        <p:spPr>
          <a:xfrm>
            <a:off x="95554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55480" y="26517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 Support Router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555480" y="3337560"/>
            <a:ext cx="2240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requires a self-hosted, open-source model.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555480" y="5257800"/>
            <a:ext cx="2240280" cy="411480"/>
          </a:xfrm>
          <a:prstGeom prst="roundRect">
            <a:avLst>
              <a:gd name="adj" fmla="val 13333"/>
            </a:avLst>
          </a:prstGeom>
          <a:solidFill>
            <a:srgbClr val="8C6A3F"/>
          </a:solidFill>
          <a:ln/>
        </p:spPr>
      </p:sp>
      <p:sp>
        <p:nvSpPr>
          <p:cNvPr id="31" name="Text 29"/>
          <p:cNvSpPr/>
          <p:nvPr/>
        </p:nvSpPr>
        <p:spPr>
          <a:xfrm>
            <a:off x="955548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LLaMA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— Choosing the Right Model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Model Should You Choose?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6949440" cy="685800"/>
          </a:xfrm>
          <a:prstGeom prst="roundRect">
            <a:avLst>
              <a:gd name="adj" fmla="val 13333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Choice: BERT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dedicated, high-accuracy classification system with a stable label set and available training data, BERT remains the most suitable choice: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128016" cy="1280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40156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context yields strong accuracy on well-defined categories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087368"/>
            <a:ext cx="128016" cy="1280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96849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footprint (110M-340M params) means fast, cheap inference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654296"/>
            <a:ext cx="128016" cy="12801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535424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4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well-documented fine-tuning ecosystem and tooling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358384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labeled data is scarce or categories shift often, GPT or LLaMA via prompting is the better fit.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0" y="173736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2A152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DECISION GUIDE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labeled data?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0" y="28620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9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BERT or T5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data?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37307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9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GPT or LLaMA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46720" y="4251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multi-task?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4599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9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T5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46720" y="5120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on-prem?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0" y="5468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9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LLaMA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— Choosing the Right Model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6D2E46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9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model to your data, not the hype.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E4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remains the pragmatic default for dedicated classification systems. GPT and LLaMA offer flexible, low-data alternatives through prompting. T5 is the right choice when classification is one part of a larger text-to-text pipeline.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663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773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1937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4663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A26769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4773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51937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4663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3E5C55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4773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35040" y="51937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41080" y="4663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8C6A3F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4773168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41080" y="51937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E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4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— Choosing the Right Model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2026-08-22T08:13:49Z</dcterms:created>
  <dcterms:modified xsi:type="dcterms:W3CDTF">2026-08-22T08:13:49Z</dcterms:modified>
</cp:coreProperties>
</file>